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0" r:id="rId2"/>
    <p:sldId id="256" r:id="rId3"/>
    <p:sldId id="262" r:id="rId4"/>
    <p:sldId id="287" r:id="rId5"/>
    <p:sldId id="288" r:id="rId6"/>
    <p:sldId id="289" r:id="rId7"/>
    <p:sldId id="290" r:id="rId8"/>
    <p:sldId id="291" r:id="rId9"/>
    <p:sldId id="293" r:id="rId10"/>
    <p:sldId id="294" r:id="rId11"/>
    <p:sldId id="295" r:id="rId12"/>
    <p:sldId id="296" r:id="rId13"/>
    <p:sldId id="297" r:id="rId14"/>
    <p:sldId id="299" r:id="rId15"/>
    <p:sldId id="2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94D0"/>
    <a:srgbClr val="D06C58"/>
    <a:srgbClr val="FFE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74345"/>
  </p:normalViewPr>
  <p:slideViewPr>
    <p:cSldViewPr snapToGrid="0" showGuides="1">
      <p:cViewPr varScale="1">
        <p:scale>
          <a:sx n="93" d="100"/>
          <a:sy n="93" d="100"/>
        </p:scale>
        <p:origin x="576" y="208"/>
      </p:cViewPr>
      <p:guideLst>
        <p:guide orient="horz" pos="2136"/>
        <p:guide pos="3840"/>
        <p:guide orient="horz" pos="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5C847-EE8A-4A87-B045-4D8BBF95994C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9D1BA-D377-40C6-A47B-88A2EE7A62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06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Solves instances that other methods don’t.</a:t>
            </a:r>
          </a:p>
          <a:p>
            <a:r>
              <a:rPr lang="en-US" dirty="0"/>
              <a:t>Elegant.</a:t>
            </a:r>
          </a:p>
          <a:p>
            <a:r>
              <a:rPr lang="en-US" dirty="0"/>
              <a:t>Like CBS, the core algorithm is simple and appealing – doesn’t really on any confusing hacks or edge cases.</a:t>
            </a:r>
          </a:p>
          <a:p>
            <a:r>
              <a:rPr lang="en-US" dirty="0"/>
              <a:t>For CBS, there are a lot of </a:t>
            </a:r>
            <a:r>
              <a:rPr lang="en-US" dirty="0" err="1"/>
              <a:t>optimisations</a:t>
            </a:r>
            <a:r>
              <a:rPr lang="en-US" dirty="0"/>
              <a:t> that rely on pre-processing, special cases, and heuristics.</a:t>
            </a:r>
          </a:p>
          <a:p>
            <a:r>
              <a:rPr lang="en-US" dirty="0"/>
              <a:t>The main author of PIBT has also developed an algorithm called LaCAM which looks like a similar case of trying to squeeze everything possible out of the PIBT algorithm…</a:t>
            </a:r>
          </a:p>
          <a:p>
            <a:r>
              <a:rPr lang="en-US" dirty="0"/>
              <a:t>I really like the illustration he has on the page for the algo.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9D1BA-D377-40C6-A47B-88A2EE7A6226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380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9D1BA-D377-40C6-A47B-88A2EE7A6226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25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86ABA-3403-82C0-D28F-7F034FB7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B6C72-0A71-B407-052F-BD0EB17C4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0BBEB-2BE2-E377-F87C-1695BE62C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5F037-B0E1-F7C7-F0B6-52CED8768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9D1BA-D377-40C6-A47B-88A2EE7A6226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2704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CD1D3-EEAB-0284-96D7-682FA5F7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900FE-B253-31DF-B41D-A41CED9A8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1D927-65D8-E52D-FB33-74A9F4479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5CF23-346F-571F-0D17-57E378C4B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9D1BA-D377-40C6-A47B-88A2EE7A6226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959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B66CB-1886-94B6-1049-EE2DF6D71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35727-C719-B7C4-2094-985B2E24C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07D64-7577-1711-B91F-CEDAD89C8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09AAE-FA3B-7D82-CC97-94BE9BCAC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9D1BA-D377-40C6-A47B-88A2EE7A6226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9160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599E0-1697-9DA9-299D-54E92BB7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D5149-FC81-64F0-B272-48C3608C9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4E331-043E-3830-6457-81DC06629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7E721-30FB-E042-9648-BE4616D95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9D1BA-D377-40C6-A47B-88A2EE7A6226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125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6134C-3B83-D385-C432-202ECE4D3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E7605-FB40-42FE-87F2-FA5833054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0B3BE-9B83-6020-A6D9-1D9CDAB9D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AE606-801E-AFBA-CA0F-1CC842235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9D1BA-D377-40C6-A47B-88A2EE7A6226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663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EF22-1F82-4909-4F3F-A5AF9E0A5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B5313-F73A-E129-21F3-D5668E7AE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8FADE-C8A8-227A-781C-38027EBD6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2C55B-9A29-C6D8-D441-090A31886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9D1BA-D377-40C6-A47B-88A2EE7A6226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3905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4143-F1E1-0AC6-B907-1DDBDB375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C0D7B-4D2B-DAFB-026A-C4C2C9B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51232-AA26-CB36-1E74-2E066BE0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BD151-99FD-ECE3-D540-92CA6F94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CEA7B-00E7-0D8C-3CA9-68A3410D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04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17B4-369C-76FB-8C42-D7365503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ED265-580A-16BC-CFB2-7A3F5AB51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1CA55-F246-5029-EE6A-69D0B2AD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56D98-C961-B55C-8D8A-8598854D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93C4-E10F-7FF7-2B90-57DCF43A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0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0245-DEAE-D695-1102-DB7665E3D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1EC70-3365-0E5D-40FE-ECC12344B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48E3E-70EE-663B-0484-B9F90DBD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CBE4A-A247-955F-1305-498F454F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528BD-8F1F-4403-D3DB-0140E151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27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CD11-B18A-394A-922D-60A9F567E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98287-C6BA-B569-7F40-84426DBBD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6BA38-E865-F7BF-ADC3-DEECA75D1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F16A0-C4A0-E0AC-E0CB-0CC452AE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B61B0-DA59-F0B7-E972-ECF37329E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8CFA8-1D18-5D65-F514-180241A4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4957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57B0-37BA-FAF5-5E79-F196357B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1F164-2B49-7680-BE45-063C51DCC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9AC62-22EF-830C-7079-563940E56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378C3-3C9F-4579-35AB-B0141CAE8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42FD3-5CE2-7479-423A-7CE5E5681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87C9F-C930-68F5-84BE-3FBF80CB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A7103-29AC-7E5A-43AA-801ECBB5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0E48CF-3D96-CAF3-60A6-846F3145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951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AAA2-660D-46E4-2F6D-2423087B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7C291-ED35-E25C-3FB1-0F212F0C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65F0B-8AE2-51BC-C00C-EF8CEB8D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FC389-4238-CE1B-71B0-C9C2C758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497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4E99C-0F82-08E2-DBAC-DB4F432D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6B569-91EE-063A-E024-BD24FC85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D5177-48CF-F88A-B732-6D577968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847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0BFF1-5267-F6FF-F20B-EF82B57D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C3D56-5AB2-76D6-B724-5B42EA351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2DBFF-C7F9-FA1E-03E4-D26EF8FCA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B2A26-9038-93E4-1CE9-786AB382E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8E5F9-3985-F356-A593-B514ED09A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968DD-7BAE-E4A1-67D4-02C41FED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919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D1D1-0454-B30C-5838-FEE61F21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F5F12-CF1E-9B44-6FC2-77CEE9D4D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BA99E-E053-BFE1-00F7-17BE69F93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FDF11-112F-303C-9607-53C2A3CB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9B8B7-7103-7C2C-381D-D59C9828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D0813-439C-5DB4-A079-1FDCD27D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63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ECB3-D611-63B1-1D60-D9AB888C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37CAA-02E7-1D57-299D-CC5C36953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AB26F-AC59-423D-E010-D502D906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E7D8-31B2-ABF4-1DE8-D772FD08A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141EC-BB35-A9ED-35D1-BA93F6AD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20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A092D-8140-1E60-108C-FD6C89A840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FC02A-7FB3-B7A2-F97F-D65791594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6C551-ECE0-7275-C34A-D0D58A301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3806-CE2B-B3AD-667B-3F44EC5B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29AE8-8B29-4FAA-C5C0-5CE91A30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974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B775AA-3D9C-3B96-43E4-EFE6E59F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AB370-FC38-FF7E-9AA1-80B1784A4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37AEC-57C2-694D-A85F-AE1F65486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BF13A-842C-4890-B955-23A241876B85}" type="datetimeFigureOut">
              <a:rPr lang="en-AU" smtClean="0"/>
              <a:t>22/5/2026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6E168-26AD-D788-2E5A-8345FEF53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25A6-737D-244C-2362-8DCD08514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2F61F-E86A-4989-A2EF-4307949024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546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8Yrwd0t0NEw?feature=oembed" TargetMode="Externa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F71EB-DA50-58D9-0857-FE629210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06CE1D-9FE6-4461-72D5-C6525EDCB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22" y="331439"/>
            <a:ext cx="8590156" cy="572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92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1EAD45-BF92-F55E-6381-E147B6950A5E}"/>
              </a:ext>
            </a:extLst>
          </p:cNvPr>
          <p:cNvSpPr txBox="1"/>
          <p:nvPr/>
        </p:nvSpPr>
        <p:spPr>
          <a:xfrm>
            <a:off x="0" y="1572322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b="1" dirty="0">
                <a:solidFill>
                  <a:srgbClr val="5894D0"/>
                </a:solidFill>
                <a:latin typeface="+mj-lt"/>
              </a:rPr>
              <a:t>Priority inheritance with backtracking </a:t>
            </a:r>
            <a:br>
              <a:rPr lang="en-AU" sz="4800" dirty="0">
                <a:solidFill>
                  <a:srgbClr val="5894D0"/>
                </a:solidFill>
                <a:latin typeface="+mj-lt"/>
              </a:rPr>
            </a:br>
            <a:r>
              <a:rPr lang="en-AU" sz="4800" dirty="0">
                <a:solidFill>
                  <a:srgbClr val="5894D0"/>
                </a:solidFill>
                <a:latin typeface="+mj-lt"/>
              </a:rPr>
              <a:t>for iterative multi-agent path finding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6C8F0-F2F4-9E67-7BD0-04BF100ED04F}"/>
              </a:ext>
            </a:extLst>
          </p:cNvPr>
          <p:cNvSpPr txBox="1"/>
          <p:nvPr/>
        </p:nvSpPr>
        <p:spPr>
          <a:xfrm>
            <a:off x="0" y="40999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5894D0"/>
                </a:solidFill>
              </a:rPr>
              <a:t>Keisuke Okumura, Manao Machida, Xavier </a:t>
            </a:r>
            <a:r>
              <a:rPr lang="en-AU" dirty="0" err="1">
                <a:solidFill>
                  <a:srgbClr val="5894D0"/>
                </a:solidFill>
              </a:rPr>
              <a:t>Défago</a:t>
            </a:r>
            <a:r>
              <a:rPr lang="en-AU" dirty="0">
                <a:solidFill>
                  <a:srgbClr val="5894D0"/>
                </a:solidFill>
              </a:rPr>
              <a:t>, Yasumasa Tamura</a:t>
            </a:r>
          </a:p>
          <a:p>
            <a:pPr algn="ctr"/>
            <a:r>
              <a:rPr lang="en-AU" dirty="0">
                <a:solidFill>
                  <a:srgbClr val="5894D0"/>
                </a:solidFill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88495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AA502-F488-8C05-7CE1-EEFCA1B8C740}"/>
              </a:ext>
            </a:extLst>
          </p:cNvPr>
          <p:cNvSpPr txBox="1"/>
          <p:nvPr/>
        </p:nvSpPr>
        <p:spPr>
          <a:xfrm>
            <a:off x="0" y="780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Multi-Agent Pathfinding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EC8447-E977-C8D3-81F7-0C0618C40A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" t="14416" b="4092"/>
          <a:stretch>
            <a:fillRect/>
          </a:stretch>
        </p:blipFill>
        <p:spPr>
          <a:xfrm>
            <a:off x="582452" y="1986456"/>
            <a:ext cx="6775684" cy="32687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22AC46-8AEC-D3D5-E18F-756EAA717F72}"/>
              </a:ext>
            </a:extLst>
          </p:cNvPr>
          <p:cNvSpPr txBox="1"/>
          <p:nvPr/>
        </p:nvSpPr>
        <p:spPr>
          <a:xfrm>
            <a:off x="7441326" y="2959094"/>
            <a:ext cx="42943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MAPF (one-shot, offline)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MAPD (lifelong, iterative, online)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anonymous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real-world (non-grid, kinematics)</a:t>
            </a:r>
          </a:p>
        </p:txBody>
      </p:sp>
    </p:spTree>
    <p:extLst>
      <p:ext uri="{BB962C8B-B14F-4D97-AF65-F5344CB8AC3E}">
        <p14:creationId xmlns:p14="http://schemas.microsoft.com/office/powerpoint/2010/main" val="426988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952E1-FD82-0F37-CE02-AE93CA29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248D81-0A15-25D3-42F0-A7E913BD4C78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Approaches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AB2C2B-3F50-CF66-29A8-1BE387C43D9E}"/>
              </a:ext>
            </a:extLst>
          </p:cNvPr>
          <p:cNvSpPr txBox="1"/>
          <p:nvPr/>
        </p:nvSpPr>
        <p:spPr>
          <a:xfrm>
            <a:off x="1397002" y="1423755"/>
            <a:ext cx="429434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5894D0"/>
                </a:solidFill>
              </a:rPr>
              <a:t>Optimal </a:t>
            </a:r>
            <a:r>
              <a:rPr lang="en-AU" sz="2000" dirty="0">
                <a:solidFill>
                  <a:srgbClr val="5894D0"/>
                </a:solidFill>
              </a:rPr>
              <a:t>(and bounded sub-optimal)</a:t>
            </a:r>
          </a:p>
          <a:p>
            <a:endParaRPr lang="en-AU" sz="2000" b="1" dirty="0">
              <a:solidFill>
                <a:srgbClr val="5894D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5894D0"/>
                </a:solidFill>
              </a:rPr>
              <a:t>Search-based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Joint A*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CBS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5894D0"/>
                </a:solidFill>
              </a:rPr>
              <a:t>Compiling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SAT reductions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ASP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6AB44-FEA9-79A6-E494-6F4C0BE88CA6}"/>
              </a:ext>
            </a:extLst>
          </p:cNvPr>
          <p:cNvSpPr txBox="1"/>
          <p:nvPr/>
        </p:nvSpPr>
        <p:spPr>
          <a:xfrm>
            <a:off x="6500650" y="1423755"/>
            <a:ext cx="42943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5894D0"/>
                </a:solidFill>
              </a:rPr>
              <a:t>Sub-optimal</a:t>
            </a:r>
            <a:r>
              <a:rPr lang="en-AU" sz="2000" dirty="0">
                <a:solidFill>
                  <a:srgbClr val="5894D0"/>
                </a:solidFill>
              </a:rPr>
              <a:t> (and some incomplete)</a:t>
            </a:r>
            <a:endParaRPr lang="en-AU" sz="2000" b="1" dirty="0">
              <a:solidFill>
                <a:srgbClr val="5894D0"/>
              </a:solidFill>
            </a:endParaRPr>
          </a:p>
          <a:p>
            <a:endParaRPr lang="en-AU" sz="2000" b="1" dirty="0">
              <a:solidFill>
                <a:srgbClr val="5894D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5894D0"/>
                </a:solidFill>
              </a:rPr>
              <a:t>Rule-based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Push and Swap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Push and Rotate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5894D0"/>
                </a:solidFill>
              </a:rPr>
              <a:t>Prioritised planning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PIBT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5894D0"/>
                </a:solidFill>
              </a:rPr>
              <a:t>Learning</a:t>
            </a:r>
            <a:br>
              <a:rPr lang="en-AU" sz="2000" b="1" dirty="0">
                <a:solidFill>
                  <a:srgbClr val="5894D0"/>
                </a:solidFill>
              </a:rPr>
            </a:br>
            <a:r>
              <a:rPr lang="en-AU" sz="2000" dirty="0">
                <a:solidFill>
                  <a:srgbClr val="5894D0"/>
                </a:solidFill>
              </a:rPr>
              <a:t>(no theoretical guarantees)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5894D0"/>
                </a:solidFill>
              </a:rPr>
              <a:t>PRIMAL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A072D-6E02-C97E-56B3-921CB206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811411"/>
            <a:ext cx="7772400" cy="150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26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60431-6125-1703-56AA-A0B1CCDD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D15EED-E298-758E-42BE-8C7E5A67A1B7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Priority Inheritance with Backtracking (PIBT)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8D8DAF-EA41-4179-8105-E6792C7C465E}"/>
              </a:ext>
            </a:extLst>
          </p:cNvPr>
          <p:cNvSpPr txBox="1"/>
          <p:nvPr/>
        </p:nvSpPr>
        <p:spPr>
          <a:xfrm>
            <a:off x="1324303" y="1997839"/>
            <a:ext cx="95433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Priority 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Sub-optimal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Complete in </a:t>
            </a:r>
            <a:r>
              <a:rPr lang="en-AU" sz="3600" i="1" dirty="0">
                <a:solidFill>
                  <a:srgbClr val="5894D0"/>
                </a:solidFill>
              </a:rPr>
              <a:t>biconnected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100s to 1000 agents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Fast (e.g. &lt; 50ms)</a:t>
            </a:r>
          </a:p>
        </p:txBody>
      </p:sp>
    </p:spTree>
    <p:extLst>
      <p:ext uri="{BB962C8B-B14F-4D97-AF65-F5344CB8AC3E}">
        <p14:creationId xmlns:p14="http://schemas.microsoft.com/office/powerpoint/2010/main" val="179285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67ED5C-8E24-7BED-91A4-65C702D2E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02" y="540087"/>
            <a:ext cx="9915395" cy="557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15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112A6-C775-048F-A837-C345E2CE5B9A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Priority Inheritance with Backtracking (PIBT)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59B94-22C5-51F0-F89F-81D9950D06A8}"/>
              </a:ext>
            </a:extLst>
          </p:cNvPr>
          <p:cNvSpPr txBox="1"/>
          <p:nvPr/>
        </p:nvSpPr>
        <p:spPr>
          <a:xfrm>
            <a:off x="1324303" y="1997839"/>
            <a:ext cx="95433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Guarantees </a:t>
            </a:r>
            <a:r>
              <a:rPr lang="en-AU" sz="3600" i="1" dirty="0">
                <a:solidFill>
                  <a:srgbClr val="5894D0"/>
                </a:solidFill>
              </a:rPr>
              <a:t>reachability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No guarantee that all agents will be at their goals at the same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Probably not important for MAPD problems</a:t>
            </a:r>
          </a:p>
        </p:txBody>
      </p:sp>
    </p:spTree>
    <p:extLst>
      <p:ext uri="{BB962C8B-B14F-4D97-AF65-F5344CB8AC3E}">
        <p14:creationId xmlns:p14="http://schemas.microsoft.com/office/powerpoint/2010/main" val="89808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9BB54-4DEE-D076-BE66-721A0634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1AD2C-8898-CA67-47AA-83C16EB4874F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Priority Inheritance with Backtracking (PIBT)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EFA5B-1766-4C91-2B31-B6C4B6BA1C2C}"/>
              </a:ext>
            </a:extLst>
          </p:cNvPr>
          <p:cNvSpPr txBox="1"/>
          <p:nvPr/>
        </p:nvSpPr>
        <p:spPr>
          <a:xfrm>
            <a:off x="1324303" y="2690566"/>
            <a:ext cx="95433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Prioritised planning, one step at a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Priority inheritance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rgbClr val="5894D0"/>
                </a:solidFill>
              </a:rPr>
              <a:t>Backtracking</a:t>
            </a:r>
          </a:p>
        </p:txBody>
      </p:sp>
    </p:spTree>
    <p:extLst>
      <p:ext uri="{BB962C8B-B14F-4D97-AF65-F5344CB8AC3E}">
        <p14:creationId xmlns:p14="http://schemas.microsoft.com/office/powerpoint/2010/main" val="3060925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D8E3F-1F0F-4C66-C759-161AC69C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2E4332-454C-4FDC-3CD4-F296BB04D730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Priority Inheritance with Backtracking (PIBT)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320B8-01A9-1D05-EF8D-3CAE32BC4954}"/>
              </a:ext>
            </a:extLst>
          </p:cNvPr>
          <p:cNvSpPr txBox="1"/>
          <p:nvPr/>
        </p:nvSpPr>
        <p:spPr>
          <a:xfrm>
            <a:off x="1324303" y="1526784"/>
            <a:ext cx="9543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5894D0"/>
                </a:solidFill>
              </a:rPr>
              <a:t>Prioritised planning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3F131-6381-127D-5A3C-578E3F8D8E3E}"/>
              </a:ext>
            </a:extLst>
          </p:cNvPr>
          <p:cNvSpPr txBox="1"/>
          <p:nvPr/>
        </p:nvSpPr>
        <p:spPr>
          <a:xfrm>
            <a:off x="1019503" y="2826026"/>
            <a:ext cx="65750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5894D0"/>
                </a:solidFill>
              </a:rPr>
              <a:t>Each step, agents update their </a:t>
            </a:r>
            <a:r>
              <a:rPr lang="en-AU" sz="2400" i="1" dirty="0">
                <a:solidFill>
                  <a:srgbClr val="5894D0"/>
                </a:solidFill>
              </a:rPr>
              <a:t>unique</a:t>
            </a:r>
            <a:r>
              <a:rPr lang="en-AU" sz="2400" dirty="0">
                <a:solidFill>
                  <a:srgbClr val="5894D0"/>
                </a:solidFill>
              </a:rPr>
              <a:t> priority (somehow).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5894D0"/>
                </a:solidFill>
              </a:rPr>
              <a:t>In decreasing order of priority, agents pick their next location (e.g. A*) while avoiding nodes requested by higher priority agents.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5894D0"/>
                </a:solidFill>
              </a:rPr>
              <a:t>Agents can ignore lower priority agents.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5894D0"/>
                </a:solidFill>
              </a:rPr>
              <a:t>Deadlocks possible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6AD3F1-5767-2814-07E5-5107D6FC9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908" y="2968834"/>
            <a:ext cx="27940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0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44C1-1476-96D6-C88A-FF257F5A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F7877-7828-4208-BD4A-83A53B6169E3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Priority Inheritance with Backtracking (PIBT)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AF100-1EFE-E720-D785-3E46FC4C082A}"/>
              </a:ext>
            </a:extLst>
          </p:cNvPr>
          <p:cNvSpPr txBox="1"/>
          <p:nvPr/>
        </p:nvSpPr>
        <p:spPr>
          <a:xfrm>
            <a:off x="1324303" y="1526784"/>
            <a:ext cx="9543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5894D0"/>
                </a:solidFill>
              </a:rPr>
              <a:t>Priority inheritance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F0212-777D-4446-76C4-0F4E3E61F175}"/>
              </a:ext>
            </a:extLst>
          </p:cNvPr>
          <p:cNvSpPr txBox="1"/>
          <p:nvPr/>
        </p:nvSpPr>
        <p:spPr>
          <a:xfrm>
            <a:off x="589395" y="3238337"/>
            <a:ext cx="4904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5894D0"/>
                </a:solidFill>
              </a:rPr>
              <a:t>Agent a</a:t>
            </a:r>
            <a:r>
              <a:rPr lang="en-AU" sz="2400" baseline="-25000" dirty="0">
                <a:solidFill>
                  <a:srgbClr val="5894D0"/>
                </a:solidFill>
              </a:rPr>
              <a:t>1</a:t>
            </a:r>
            <a:r>
              <a:rPr lang="en-AU" sz="2400" dirty="0">
                <a:solidFill>
                  <a:srgbClr val="5894D0"/>
                </a:solidFill>
              </a:rPr>
              <a:t> temporarily inherits a</a:t>
            </a:r>
            <a:r>
              <a:rPr lang="en-AU" sz="2400" baseline="-25000" dirty="0">
                <a:solidFill>
                  <a:srgbClr val="5894D0"/>
                </a:solidFill>
              </a:rPr>
              <a:t>3</a:t>
            </a:r>
            <a:r>
              <a:rPr lang="en-AU" sz="2400" dirty="0">
                <a:solidFill>
                  <a:srgbClr val="5894D0"/>
                </a:solidFill>
              </a:rPr>
              <a:t>’s </a:t>
            </a:r>
            <a:r>
              <a:rPr lang="en-AU" sz="2400" b="1" dirty="0">
                <a:solidFill>
                  <a:srgbClr val="5894D0"/>
                </a:solidFill>
              </a:rPr>
              <a:t>high </a:t>
            </a:r>
            <a:r>
              <a:rPr lang="en-AU" sz="2400" dirty="0">
                <a:solidFill>
                  <a:srgbClr val="5894D0"/>
                </a:solidFill>
              </a:rPr>
              <a:t>priority allowing it to force the </a:t>
            </a:r>
            <a:r>
              <a:rPr lang="en-AU" sz="2400" b="1" dirty="0">
                <a:solidFill>
                  <a:srgbClr val="5894D0"/>
                </a:solidFill>
              </a:rPr>
              <a:t>medium </a:t>
            </a:r>
            <a:r>
              <a:rPr lang="en-AU" sz="2400" dirty="0">
                <a:solidFill>
                  <a:srgbClr val="5894D0"/>
                </a:solidFill>
              </a:rPr>
              <a:t>priority a</a:t>
            </a:r>
            <a:r>
              <a:rPr lang="en-AU" sz="2400" baseline="-25000" dirty="0">
                <a:solidFill>
                  <a:srgbClr val="5894D0"/>
                </a:solidFill>
              </a:rPr>
              <a:t>2</a:t>
            </a:r>
            <a:r>
              <a:rPr lang="en-AU" sz="2400" dirty="0">
                <a:solidFill>
                  <a:srgbClr val="5894D0"/>
                </a:solidFill>
              </a:rPr>
              <a:t> to take a different 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5B220-F0D7-B95A-EB5E-E05BAC67E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905" y="2704354"/>
            <a:ext cx="61087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8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A355D-28A2-3594-C379-E2195197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763C17-8587-9EDF-F7FC-97B9B9D4D7D2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Priority Inheritance with Backtracking (PIBT)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179AB-C7BC-771A-1FBC-21C326C788BC}"/>
              </a:ext>
            </a:extLst>
          </p:cNvPr>
          <p:cNvSpPr txBox="1"/>
          <p:nvPr/>
        </p:nvSpPr>
        <p:spPr>
          <a:xfrm>
            <a:off x="1324303" y="1526784"/>
            <a:ext cx="9543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5894D0"/>
                </a:solidFill>
              </a:rPr>
              <a:t>Priority inheritance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3F4C0-2F5F-FB66-990C-3AFFF6E4853F}"/>
              </a:ext>
            </a:extLst>
          </p:cNvPr>
          <p:cNvSpPr txBox="1"/>
          <p:nvPr/>
        </p:nvSpPr>
        <p:spPr>
          <a:xfrm>
            <a:off x="589395" y="3238337"/>
            <a:ext cx="4904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5894D0"/>
                </a:solidFill>
              </a:rPr>
              <a:t>Deadlocks are still possible!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7E5EC-7C6D-0330-EEB6-6921B96A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197" y="2771486"/>
            <a:ext cx="38735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8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9A85-9BC8-B0A4-13A2-00F896B5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94DDD8-869E-C5A0-2161-A367B2D78D19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Priority Inheritance with Backtracking (PIBT)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8B7F0-AD53-343C-CFF0-0984F19B3FC1}"/>
              </a:ext>
            </a:extLst>
          </p:cNvPr>
          <p:cNvSpPr txBox="1"/>
          <p:nvPr/>
        </p:nvSpPr>
        <p:spPr>
          <a:xfrm>
            <a:off x="1324303" y="1366491"/>
            <a:ext cx="9543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5894D0"/>
                </a:solidFill>
              </a:rPr>
              <a:t>Backtracking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479CD-37C1-3373-8975-07B6DB53FE28}"/>
              </a:ext>
            </a:extLst>
          </p:cNvPr>
          <p:cNvSpPr txBox="1"/>
          <p:nvPr/>
        </p:nvSpPr>
        <p:spPr>
          <a:xfrm>
            <a:off x="304801" y="2323937"/>
            <a:ext cx="38515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5894D0"/>
                </a:solidFill>
              </a:rPr>
              <a:t>Any agent that executes priority inheritance must wait for an </a:t>
            </a:r>
            <a:r>
              <a:rPr lang="en-AU" sz="2400" b="1" dirty="0">
                <a:solidFill>
                  <a:srgbClr val="5894D0"/>
                </a:solidFill>
              </a:rPr>
              <a:t>outcome </a:t>
            </a:r>
            <a:r>
              <a:rPr lang="en-AU" sz="2400" dirty="0">
                <a:solidFill>
                  <a:srgbClr val="5894D0"/>
                </a:solidFill>
              </a:rPr>
              <a:t>{valid, invalid}.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5894D0"/>
                </a:solidFill>
              </a:rPr>
              <a:t>If it gets invalid, it will look for alternatives to force, otherwise it will return invalid too.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3EA5EB-F6D8-602F-46C4-4D69FACE06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3" t="1381" r="981" b="4800"/>
          <a:stretch>
            <a:fillRect/>
          </a:stretch>
        </p:blipFill>
        <p:spPr>
          <a:xfrm>
            <a:off x="4419600" y="2050004"/>
            <a:ext cx="7564582" cy="46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4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5DB1-CA78-FF17-7905-748B5A0E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74BF06-26DA-4FFD-75A6-0240CB80A045}"/>
              </a:ext>
            </a:extLst>
          </p:cNvPr>
          <p:cNvSpPr txBox="1"/>
          <p:nvPr/>
        </p:nvSpPr>
        <p:spPr>
          <a:xfrm>
            <a:off x="0" y="5598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5894D0"/>
                </a:solidFill>
                <a:latin typeface="+mj-lt"/>
              </a:rPr>
              <a:t>Priority Inheritance with Backtracking (PIBT)</a:t>
            </a:r>
            <a:endParaRPr lang="en-AU" sz="3600" dirty="0">
              <a:solidFill>
                <a:srgbClr val="5894D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300B5-7867-7801-ABE7-C19092E994C0}"/>
              </a:ext>
            </a:extLst>
          </p:cNvPr>
          <p:cNvSpPr txBox="1"/>
          <p:nvPr/>
        </p:nvSpPr>
        <p:spPr>
          <a:xfrm>
            <a:off x="1324303" y="1781055"/>
            <a:ext cx="9543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5894D0"/>
                </a:solidFill>
              </a:rPr>
              <a:t>Incomplete on graphs that are </a:t>
            </a:r>
            <a:r>
              <a:rPr lang="en-AU" sz="2800" b="1" i="1" dirty="0">
                <a:solidFill>
                  <a:srgbClr val="5894D0"/>
                </a:solidFill>
              </a:rPr>
              <a:t>not biconnected</a:t>
            </a:r>
            <a:endParaRPr lang="en-AU" sz="2800" b="1" dirty="0">
              <a:solidFill>
                <a:srgbClr val="5894D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63416-CC78-F79A-D3B0-C056D1CEB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53" y="2879133"/>
            <a:ext cx="10735009" cy="296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61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94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2DF24-6494-9700-7201-50E2782E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39510-C7CA-396B-B09C-F1D839E1C5CE}"/>
              </a:ext>
            </a:extLst>
          </p:cNvPr>
          <p:cNvSpPr txBox="1"/>
          <p:nvPr/>
        </p:nvSpPr>
        <p:spPr>
          <a:xfrm>
            <a:off x="1324303" y="1781055"/>
            <a:ext cx="954339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400" b="1" dirty="0">
                <a:solidFill>
                  <a:schemeClr val="bg1"/>
                </a:solidFill>
              </a:rPr>
              <a:t>PIBT+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400" b="1" dirty="0">
                <a:solidFill>
                  <a:schemeClr val="bg1"/>
                </a:solidFill>
              </a:rPr>
              <a:t>Decentralised 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400" b="1" dirty="0">
                <a:solidFill>
                  <a:schemeClr val="bg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809514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CC7D6-869B-F748-31AF-050515F0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edia 7" descr="Priority Inheritance with Backtracking for Iterative Multi-agent Path Finding">
            <a:hlinkClick r:id="" action="ppaction://media"/>
            <a:extLst>
              <a:ext uri="{FF2B5EF4-FFF2-40B4-BE49-F238E27FC236}">
                <a16:creationId xmlns:a16="http://schemas.microsoft.com/office/drawing/2014/main" id="{A83E82B4-BAFD-5C4B-C855-860C708EC22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911028" y="304799"/>
            <a:ext cx="10369944" cy="58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8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424</Words>
  <Application>Microsoft Macintosh PowerPoint</Application>
  <PresentationFormat>Widescreen</PresentationFormat>
  <Paragraphs>75</Paragraphs>
  <Slides>15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Grayland</dc:creator>
  <cp:lastModifiedBy>Benjamin Grayland</cp:lastModifiedBy>
  <cp:revision>99</cp:revision>
  <dcterms:created xsi:type="dcterms:W3CDTF">2025-05-29T15:08:17Z</dcterms:created>
  <dcterms:modified xsi:type="dcterms:W3CDTF">2026-05-22T04:40:19Z</dcterms:modified>
</cp:coreProperties>
</file>